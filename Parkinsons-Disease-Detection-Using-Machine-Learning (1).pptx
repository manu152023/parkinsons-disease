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Parkinson’s Disease Detection Using Machine Learning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13529"/>
            <a:ext cx="8824079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 &amp; Motivation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9383" y="1754743"/>
            <a:ext cx="1307163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Parkinson’s Disease (PD) is a progressive neurological disorder impacting millions globally. Early, subtle vocal changes (dysphonia) often precede motor symptoms, yet traditional diagnosis remains subjective and frequently delayed.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9383" y="3051691"/>
            <a:ext cx="6424493" cy="2003822"/>
          </a:xfrm>
          <a:prstGeom prst="roundRect">
            <a:avLst>
              <a:gd name="adj" fmla="val 7301"/>
            </a:avLst>
          </a:prstGeom>
          <a:solidFill>
            <a:srgbClr val="212326"/>
          </a:solidFill>
          <a:ln/>
        </p:spPr>
      </p:sp>
      <p:sp>
        <p:nvSpPr>
          <p:cNvPr id="5" name="Shape 3"/>
          <p:cNvSpPr/>
          <p:nvPr/>
        </p:nvSpPr>
        <p:spPr>
          <a:xfrm>
            <a:off x="779383" y="3021211"/>
            <a:ext cx="6424493" cy="121920"/>
          </a:xfrm>
          <a:prstGeom prst="roundRect">
            <a:avLst>
              <a:gd name="adj" fmla="val 27400"/>
            </a:avLst>
          </a:prstGeom>
          <a:solidFill>
            <a:srgbClr val="84482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717721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844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923" y="2884765"/>
            <a:ext cx="267176" cy="3339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2510" y="3608427"/>
            <a:ext cx="2810113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Progressive Disorder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2510" y="4089916"/>
            <a:ext cx="59182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 significantly impairs quality of life, necessitating early intervention.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6523" y="3051691"/>
            <a:ext cx="6424493" cy="2003822"/>
          </a:xfrm>
          <a:prstGeom prst="roundRect">
            <a:avLst>
              <a:gd name="adj" fmla="val 7301"/>
            </a:avLst>
          </a:prstGeom>
          <a:solidFill>
            <a:srgbClr val="212326"/>
          </a:solidFill>
          <a:ln/>
        </p:spPr>
      </p:sp>
      <p:sp>
        <p:nvSpPr>
          <p:cNvPr id="11" name="Shape 8"/>
          <p:cNvSpPr/>
          <p:nvPr/>
        </p:nvSpPr>
        <p:spPr>
          <a:xfrm>
            <a:off x="7426523" y="3021211"/>
            <a:ext cx="6424493" cy="121920"/>
          </a:xfrm>
          <a:prstGeom prst="roundRect">
            <a:avLst>
              <a:gd name="adj" fmla="val 27400"/>
            </a:avLst>
          </a:prstGeom>
          <a:solidFill>
            <a:srgbClr val="84482D"/>
          </a:solidFill>
          <a:ln/>
        </p:spPr>
      </p:sp>
      <p:sp>
        <p:nvSpPr>
          <p:cNvPr id="12" name="Shape 9"/>
          <p:cNvSpPr/>
          <p:nvPr/>
        </p:nvSpPr>
        <p:spPr>
          <a:xfrm>
            <a:off x="10304681" y="2717721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8448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063" y="2884765"/>
            <a:ext cx="267176" cy="3339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79650" y="3608427"/>
            <a:ext cx="2854285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Subtle Voice Markers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7679650" y="4089916"/>
            <a:ext cx="59182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Dysphonia is a key early indicator, often overlooked in routine check-ups.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79383" y="5612130"/>
            <a:ext cx="6424493" cy="2003822"/>
          </a:xfrm>
          <a:prstGeom prst="roundRect">
            <a:avLst>
              <a:gd name="adj" fmla="val 7301"/>
            </a:avLst>
          </a:prstGeom>
          <a:solidFill>
            <a:srgbClr val="212326"/>
          </a:solidFill>
          <a:ln/>
        </p:spPr>
      </p:sp>
      <p:sp>
        <p:nvSpPr>
          <p:cNvPr id="17" name="Shape 13"/>
          <p:cNvSpPr/>
          <p:nvPr/>
        </p:nvSpPr>
        <p:spPr>
          <a:xfrm>
            <a:off x="779383" y="5581650"/>
            <a:ext cx="6424493" cy="121920"/>
          </a:xfrm>
          <a:prstGeom prst="roundRect">
            <a:avLst>
              <a:gd name="adj" fmla="val 27400"/>
            </a:avLst>
          </a:prstGeom>
          <a:solidFill>
            <a:srgbClr val="84482D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5278160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84482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923" y="5445204"/>
            <a:ext cx="267176" cy="3339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2510" y="616886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Delayed Diagnosis</a:t>
            </a:r>
            <a:endParaRPr lang="en-US" sz="2150" dirty="0"/>
          </a:p>
        </p:txBody>
      </p:sp>
      <p:sp>
        <p:nvSpPr>
          <p:cNvPr id="21" name="Text 16"/>
          <p:cNvSpPr/>
          <p:nvPr/>
        </p:nvSpPr>
        <p:spPr>
          <a:xfrm>
            <a:off x="1032510" y="6650355"/>
            <a:ext cx="59182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methods lead to missed opportunities for timely treatment.</a:t>
            </a:r>
            <a:endParaRPr lang="en-US" sz="1750" dirty="0"/>
          </a:p>
        </p:txBody>
      </p:sp>
      <p:sp>
        <p:nvSpPr>
          <p:cNvPr id="22" name="Shape 17"/>
          <p:cNvSpPr/>
          <p:nvPr/>
        </p:nvSpPr>
        <p:spPr>
          <a:xfrm>
            <a:off x="7426523" y="5612130"/>
            <a:ext cx="6424493" cy="2003822"/>
          </a:xfrm>
          <a:prstGeom prst="roundRect">
            <a:avLst>
              <a:gd name="adj" fmla="val 7301"/>
            </a:avLst>
          </a:prstGeom>
          <a:solidFill>
            <a:srgbClr val="212326"/>
          </a:solidFill>
          <a:ln/>
        </p:spPr>
      </p:sp>
      <p:sp>
        <p:nvSpPr>
          <p:cNvPr id="23" name="Shape 18"/>
          <p:cNvSpPr/>
          <p:nvPr/>
        </p:nvSpPr>
        <p:spPr>
          <a:xfrm>
            <a:off x="7426523" y="5581650"/>
            <a:ext cx="6424493" cy="121920"/>
          </a:xfrm>
          <a:prstGeom prst="roundRect">
            <a:avLst>
              <a:gd name="adj" fmla="val 27400"/>
            </a:avLst>
          </a:prstGeom>
          <a:solidFill>
            <a:srgbClr val="84482D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04681" y="5278160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84482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063" y="5445204"/>
            <a:ext cx="267176" cy="33397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79650" y="616886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Our Goal</a:t>
            </a:r>
            <a:endParaRPr lang="en-US" sz="2150" dirty="0"/>
          </a:p>
        </p:txBody>
      </p:sp>
      <p:sp>
        <p:nvSpPr>
          <p:cNvPr id="27" name="Text 21"/>
          <p:cNvSpPr/>
          <p:nvPr/>
        </p:nvSpPr>
        <p:spPr>
          <a:xfrm>
            <a:off x="7679650" y="6650355"/>
            <a:ext cx="59182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 non-invasive, ML-driven voice analysis tool for early detection.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432619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Overview: UCI Parkinson’s Voice Data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study utilised the publicly available UCI Parkinson’s Dataset, a robust collection for voice-based PD analysis, curated by Oxford University.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88131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UCI Machine Learning Repository (Oxford University)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28338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Recordings: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195 voice samples from 31 individuals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685461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22 distinct acoustic features, including Jitter, Shimmer, Pitch Perturbation, and others, capturing vocal irregularities.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474737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Variable: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Binary status (0 = healthy, 1 = Parkinson’s).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743"/>
            <a:ext cx="77302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Preprocessing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41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Robust data preprocessing was crucial to ensure model performance and prevent biases.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22646"/>
            <a:ext cx="4234220" cy="226814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476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966692"/>
            <a:ext cx="37805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Irrelevant attributes, such as 'name', were systematically removed to streamline the dataset and prevent noise.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98031" y="3682365"/>
            <a:ext cx="4234220" cy="226814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5424845" y="4135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Scaling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24845" y="4626412"/>
            <a:ext cx="37805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highlight>
                  <a:srgbClr val="2E30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was applied to normalise feature ranges, enhancing model convergence and performance, particularly for distance-based algorithms.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02272" y="3342203"/>
            <a:ext cx="4234220" cy="226814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9829086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Splitting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29086" y="4286250"/>
            <a:ext cx="37805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dataset was partitioned into 80% training and 20% testing sets, ensuring an unbiased evaluation of the models' generalisation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330" y="426720"/>
            <a:ext cx="6886099" cy="48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Machine Learning Models Employed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2330" y="1220867"/>
            <a:ext cx="1354574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diverse suite of supervised learning algorithms was rigorously evaluated to identify the optimal approach for Parkinson's disease detection.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2330" y="1643182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44" y="1962745"/>
            <a:ext cx="232410" cy="2905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7069" y="1798082"/>
            <a:ext cx="193714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7069" y="2133005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Probabilistic classification for binary outcomes.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2330" y="2689146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44" y="3008709"/>
            <a:ext cx="232410" cy="2905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7069" y="2844046"/>
            <a:ext cx="220468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Decision Tree Classifier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7069" y="3178969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Rule-based classification with interpretability.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2330" y="3735110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4" y="4054673"/>
            <a:ext cx="232410" cy="2905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7069" y="3890010"/>
            <a:ext cx="193714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7069" y="4224933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Probabilistic classifier based on Bayes' theorem.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2330" y="4781074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4" y="5100638"/>
            <a:ext cx="232410" cy="2905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7069" y="4935974"/>
            <a:ext cx="2701528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K-Nearest Neighbours (KNN)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7069" y="5270897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Non-parametric, instance-based learning.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2330" y="5827038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44" y="6146602"/>
            <a:ext cx="232410" cy="2905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17069" y="5981938"/>
            <a:ext cx="2912745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Support Vector Machine (SVM)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17069" y="6316861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Maximising margin hyperplane for classification.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2330" y="6873002"/>
            <a:ext cx="619839" cy="929759"/>
          </a:xfrm>
          <a:prstGeom prst="roundRect">
            <a:avLst>
              <a:gd name="adj" fmla="val 360037"/>
            </a:avLst>
          </a:prstGeom>
          <a:solidFill>
            <a:srgbClr val="40424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44" y="7192566"/>
            <a:ext cx="232410" cy="2905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17069" y="7027902"/>
            <a:ext cx="1937147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317069" y="7362825"/>
            <a:ext cx="127710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method leveraging multiple decision trees.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8383"/>
            <a:ext cx="85132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Performance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07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comprehensive evaluation using key metrics revealed the superior performance of K-Nearest Neighbours (KNN) for this specific task.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91746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49936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581" y="364307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836" y="364307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89.7%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43280" y="364307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0.91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848725" y="364307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0.96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454170" y="364307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0.94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14968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581" y="42933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SVM / LR / RF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836" y="429339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~87%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43280" y="429339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~0.88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725" y="429339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~0.96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454170" y="42933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~0.92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8000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581" y="494371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Bayes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836" y="494371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74.4%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280" y="494371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0.91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848725" y="494371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454170" y="494371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0.82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57130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KNN excelled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Accuracy and Recall, making it highly suitable for early-stage screening where minimising false negatives is critical.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518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were chosen for their balance of performance and computational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1784092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Flask Web Application for Real-Time Prediction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demonstrate practical applicability, a user-friendly web interface was developed using Flask, a lightweight Python web framework.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88131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Framework: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Flask (Python)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28338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Users provide the 22 voice feature values via a simple web form.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01538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application processes inputs using the trained KNN model and displays "PD Likely" or "PD Unlikely".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747379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Designed for intuitive interaction, enabling non-technical users to access the predictive capability.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2944"/>
            <a:ext cx="105910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Project Outcomes &amp; Achievements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553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successfully demonstrated the potential of ML in healthcare diagnostics and provided invaluable hands-on experience.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3630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86770"/>
            <a:ext cx="3457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Optimal Model Identified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7718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KNN was empirically validated as the top-performing model, achieving nearly 90% accuracy.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83630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686770"/>
            <a:ext cx="3446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 Predictive Accuracy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17718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consistently achieved an 85–90% accuracy range in detecting Parkinson's from voice data.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6996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320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Functional Web Tool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81085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real-time Flask web application was developed, bringing the model to life.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546996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320433"/>
            <a:ext cx="2981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Holistic ML Workflow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81085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Gained comprehensive experience across data processing, model selection, and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06743"/>
            <a:ext cx="10783729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Scope &amp; Potential Enhancements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1735693"/>
            <a:ext cx="1308830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upon this foundation, several avenues exist for further research and development.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49" y="2335887"/>
            <a:ext cx="1101447" cy="1321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92762" y="255615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Voice Input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092762" y="3032522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 real-time audio capture from browser microphones for immediate analysis.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49" y="3657600"/>
            <a:ext cx="1101447" cy="13217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92762" y="3877866"/>
            <a:ext cx="361961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Deep Learning Exploration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2092762" y="4354235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 CNNs/RNNs on raw audio or spectrograms for advanced feature extraction and higher accuracy.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49" y="4979313"/>
            <a:ext cx="1101447" cy="13217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92762" y="5199578"/>
            <a:ext cx="2957870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Augmentation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2092762" y="5675948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Incorporate larger, more diverse datasets to improve model generalisation and robustness.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49" y="6301026"/>
            <a:ext cx="1101447" cy="13217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92762" y="6521291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Clinical Validation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2092762" y="6997660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Collaborate with healthcare professionals for real-world testing and eventual clinical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48122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2025-08-04T15:15:45Z</dcterms:created>
  <dcterms:modified xsi:type="dcterms:W3CDTF">2025-08-04T15:15:45Z</dcterms:modified>
</cp:coreProperties>
</file>